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5" r:id="rId6"/>
    <p:sldId id="260" r:id="rId7"/>
    <p:sldId id="261" r:id="rId8"/>
    <p:sldId id="262" r:id="rId9"/>
    <p:sldId id="266" r:id="rId10"/>
    <p:sldId id="263" r:id="rId11"/>
    <p:sldId id="264" r:id="rId12"/>
  </p:sldIdLst>
  <p:sldSz cx="12192000" cy="6858000"/>
  <p:notesSz cx="6858000" cy="9144000"/>
  <p:embeddedFontLst>
    <p:embeddedFont>
      <p:font typeface="Inter"/>
      <p:bold r:id="rId14"/>
    </p:embeddedFont>
    <p:embeddedFont>
      <p:font typeface="Roboto Mono" panose="00000009000000000000" pitchFamily="49" charset="0"/>
      <p:regular r:id="rId15"/>
      <p:bold r:id="rId1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7E0D48-812F-47FA-9754-38E71B6D0865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D72595-950C-4FA4-A8B6-69F3A24609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8525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D72595-950C-4FA4-A8B6-69F3A246097D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84710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D72595-950C-4FA4-A8B6-69F3A246097D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50839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881562" y="1248816"/>
            <a:ext cx="19050" cy="5715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881562" y="4261394"/>
            <a:ext cx="2435542" cy="1457326"/>
          </a:xfrm>
          <a:prstGeom prst="roundRect">
            <a:avLst>
              <a:gd name="adj" fmla="val 6611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Pawan</a:t>
            </a:r>
          </a:p>
          <a:p>
            <a:pPr algn="ctr"/>
            <a:r>
              <a:rPr lang="en-US" sz="1400" dirty="0"/>
              <a:t> [1262241202]</a:t>
            </a:r>
          </a:p>
          <a:p>
            <a:pPr algn="ctr"/>
            <a:r>
              <a:rPr lang="en-US" sz="1400" dirty="0"/>
              <a:t>&amp;</a:t>
            </a:r>
          </a:p>
          <a:p>
            <a:pPr algn="ctr"/>
            <a:r>
              <a:rPr lang="en-US" sz="1400" dirty="0"/>
              <a:t>Liya Gautam [1262241149]</a:t>
            </a:r>
          </a:p>
        </p:txBody>
      </p:sp>
      <p:sp>
        <p:nvSpPr>
          <p:cNvPr id="5" name="Rectangle 4"/>
          <p:cNvSpPr/>
          <p:nvPr/>
        </p:nvSpPr>
        <p:spPr>
          <a:xfrm>
            <a:off x="4811793" y="4261395"/>
            <a:ext cx="88819" cy="145732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5762" y="1305966"/>
            <a:ext cx="45720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-381000" y="2277516"/>
            <a:ext cx="129540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3B82F6"/>
                </a:solidFill>
                <a:latin typeface="Roboto Mono"/>
              </a:rPr>
              <a:t>COURSE: DATABASE MANAGEMENT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296" y="2658516"/>
            <a:ext cx="11251406" cy="1340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sz="4800" b="1" i="0" u="none">
                <a:solidFill>
                  <a:srgbClr val="F8FAFC"/>
                </a:solidFill>
                <a:latin typeface="Inter"/>
              </a:rPr>
              <a:t>ECE Lab Equipment Inventory Tracker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9212" y="1358354"/>
            <a:ext cx="3583781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94A3B8"/>
                </a:solidFill>
                <a:latin typeface="Inter"/>
              </a:rPr>
              <a:t>MIT WORLD PEACE UNIVERSITY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9212" y="1548854"/>
            <a:ext cx="358378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Dept. of Electrical and Electronics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70381" y="4342357"/>
            <a:ext cx="2178843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94A3B8"/>
                </a:solidFill>
                <a:latin typeface="Inter"/>
              </a:rPr>
              <a:t>PRESENTED BY</a:t>
            </a:r>
            <a:r>
              <a:rPr lang="en-US" sz="1050" b="0" i="0" u="none" dirty="0">
                <a:solidFill>
                  <a:srgbClr val="94A3B8"/>
                </a:solidFill>
                <a:latin typeface="Inter"/>
              </a:rPr>
              <a:t>:</a:t>
            </a:r>
            <a:endParaRPr sz="1050" b="0" i="0" u="none" dirty="0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762000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B82F6"/>
                </a:solidFill>
                <a:latin typeface="Roboto Mono"/>
              </a:rPr>
              <a:t>//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114425"/>
            <a:ext cx="11582400" cy="561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0F172A"/>
                </a:solidFill>
                <a:latin typeface="Inter"/>
              </a:rPr>
              <a:t>Presentation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286000"/>
            <a:ext cx="52768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B82F6"/>
                </a:solidFill>
                <a:latin typeface="Inter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105150"/>
            <a:ext cx="52768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B82F6"/>
                </a:solidFill>
                <a:latin typeface="Inter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924300"/>
            <a:ext cx="52768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 dirty="0">
                <a:solidFill>
                  <a:srgbClr val="3B82F6"/>
                </a:solidFill>
                <a:latin typeface="Inter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286000"/>
            <a:ext cx="52768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B82F6"/>
                </a:solidFill>
                <a:latin typeface="Inter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105150"/>
            <a:ext cx="52768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B82F6"/>
                </a:solidFill>
                <a:latin typeface="Inter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924300"/>
            <a:ext cx="52768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B82F6"/>
                </a:solidFill>
                <a:latin typeface="Inter"/>
              </a:rPr>
              <a:t>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200" y="2286000"/>
            <a:ext cx="3150393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Problem &amp; 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2600325"/>
            <a:ext cx="30003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Inter"/>
              </a:rPr>
              <a:t>Context and system goals.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9200" y="3105150"/>
            <a:ext cx="3350418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Tech 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9200" y="3419475"/>
            <a:ext cx="31908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Inter"/>
              </a:rPr>
              <a:t>Software requirements &amp; tools.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9200" y="3905250"/>
            <a:ext cx="3237904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System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9200" y="4238625"/>
            <a:ext cx="308371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 dirty="0">
                <a:solidFill>
                  <a:srgbClr val="64748B"/>
                </a:solidFill>
                <a:latin typeface="Inter"/>
              </a:rPr>
              <a:t>ER diagram and table schema.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10400" y="2286000"/>
            <a:ext cx="3112889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Implementation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0400" y="2600325"/>
            <a:ext cx="296465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Inter"/>
              </a:rPr>
              <a:t>Integration and core queries.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10400" y="3105150"/>
            <a:ext cx="328791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Applications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400" y="3419475"/>
            <a:ext cx="313134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Inter"/>
              </a:rPr>
              <a:t>Real-world industry relevance.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10400" y="3924300"/>
            <a:ext cx="2937867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Future Scope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0400" y="4238625"/>
            <a:ext cx="279796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Inter"/>
              </a:rPr>
              <a:t>Extensions and conclusion.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56266D7-1655-4406-CD54-9DBEB15EA47A}"/>
              </a:ext>
            </a:extLst>
          </p:cNvPr>
          <p:cNvSpPr txBox="1"/>
          <p:nvPr/>
        </p:nvSpPr>
        <p:spPr>
          <a:xfrm>
            <a:off x="3950208" y="4928616"/>
            <a:ext cx="0" cy="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C12530C-0310-0EC9-B083-433BE35A5916}"/>
              </a:ext>
            </a:extLst>
          </p:cNvPr>
          <p:cNvSpPr txBox="1"/>
          <p:nvPr/>
        </p:nvSpPr>
        <p:spPr>
          <a:xfrm>
            <a:off x="3762375" y="4821363"/>
            <a:ext cx="527685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 dirty="0">
                <a:solidFill>
                  <a:srgbClr val="3B82F6"/>
                </a:solidFill>
                <a:latin typeface="Inter"/>
              </a:rPr>
              <a:t>0</a:t>
            </a:r>
            <a:r>
              <a:rPr lang="en-US" sz="1800" b="1" i="0" u="none" dirty="0">
                <a:solidFill>
                  <a:srgbClr val="3B82F6"/>
                </a:solidFill>
                <a:latin typeface="Inter"/>
              </a:rPr>
              <a:t>7</a:t>
            </a:r>
            <a:endParaRPr sz="1800" b="1" i="0" u="none" dirty="0">
              <a:solidFill>
                <a:srgbClr val="3B82F6"/>
              </a:solidFill>
              <a:latin typeface="Inter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620ECD6-4296-7FB9-AEE8-7B184819BF2B}"/>
              </a:ext>
            </a:extLst>
          </p:cNvPr>
          <p:cNvSpPr txBox="1"/>
          <p:nvPr/>
        </p:nvSpPr>
        <p:spPr>
          <a:xfrm>
            <a:off x="4742911" y="4821363"/>
            <a:ext cx="851195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b="1" dirty="0">
                <a:solidFill>
                  <a:srgbClr val="0F172A"/>
                </a:solidFill>
                <a:latin typeface="Inter"/>
              </a:rPr>
              <a:t>Mapping</a:t>
            </a:r>
            <a:endParaRPr sz="1800" b="1" i="0" u="none" dirty="0">
              <a:solidFill>
                <a:srgbClr val="0F172A"/>
              </a:solidFill>
              <a:latin typeface="Inter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0018BCC-ECBF-F998-5DD4-1877B8C9F7D2}"/>
              </a:ext>
            </a:extLst>
          </p:cNvPr>
          <p:cNvSpPr txBox="1"/>
          <p:nvPr/>
        </p:nvSpPr>
        <p:spPr>
          <a:xfrm>
            <a:off x="4033647" y="5196863"/>
            <a:ext cx="2269724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350" b="0" i="0" u="none" dirty="0">
                <a:solidFill>
                  <a:srgbClr val="64748B"/>
                </a:solidFill>
                <a:latin typeface="Inter"/>
              </a:rPr>
              <a:t>Sustainable Development Goals.</a:t>
            </a:r>
            <a:endParaRPr sz="1350" b="0" i="0" u="none" dirty="0">
              <a:solidFill>
                <a:srgbClr val="64748B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0"/>
            <a:ext cx="54864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539430"/>
            <a:ext cx="190500" cy="200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225230"/>
            <a:ext cx="190500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4682430"/>
            <a:ext cx="171450" cy="2000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1751707"/>
            <a:ext cx="6858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B82F6"/>
                </a:solidFill>
                <a:latin typeface="Roboto Mono"/>
              </a:rPr>
              <a:t>// 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104132"/>
            <a:ext cx="5860732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 u="none">
                <a:solidFill>
                  <a:srgbClr val="0F172A"/>
                </a:solidFill>
                <a:latin typeface="Inter"/>
              </a:rPr>
              <a:t>Replacing manual lab ledgers.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3506092"/>
            <a:ext cx="52387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34155"/>
                </a:solidFill>
                <a:latin typeface="Inter"/>
              </a:rPr>
              <a:t>Physical logbooks lead to data loss and missing equipment.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4191892"/>
            <a:ext cx="5917406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34155"/>
                </a:solidFill>
                <a:latin typeface="Inter"/>
              </a:rPr>
              <a:t>No centralized way to audit current hardware stock.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3450" y="4649092"/>
            <a:ext cx="5257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34155"/>
                </a:solidFill>
                <a:latin typeface="Inter"/>
              </a:rPr>
              <a:t>Need for a strict relational system to enforce accountability.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19425"/>
            <a:ext cx="3352800" cy="234315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419600" y="3019425"/>
            <a:ext cx="3352800" cy="234315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229600" y="3019425"/>
            <a:ext cx="3352800" cy="234315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3019425"/>
            <a:ext cx="335280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419600" y="3019425"/>
            <a:ext cx="33528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0" y="3019425"/>
            <a:ext cx="33528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3514725"/>
            <a:ext cx="457200" cy="609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300" y="3514725"/>
            <a:ext cx="533400" cy="609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9300" y="3514725"/>
            <a:ext cx="533400" cy="609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-675132" y="723901"/>
            <a:ext cx="12954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 dirty="0">
                <a:solidFill>
                  <a:srgbClr val="3B82F6"/>
                </a:solidFill>
                <a:latin typeface="Roboto Mono"/>
              </a:rPr>
              <a:t>// SOFTWARE REQUIREMENTS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-381000" y="1114425"/>
            <a:ext cx="12954000" cy="561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0F172A"/>
                </a:solidFill>
                <a:latin typeface="Inter"/>
              </a:rPr>
              <a:t>The Technology 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352925"/>
            <a:ext cx="320040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F172A"/>
                </a:solidFill>
                <a:latin typeface="Inter"/>
              </a:rPr>
              <a:t>Frontend 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4705350"/>
            <a:ext cx="3048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Inter"/>
              </a:rPr>
              <a:t>HTML5 &amp; CSS3.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5800" y="4352925"/>
            <a:ext cx="320040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F172A"/>
                </a:solidFill>
                <a:latin typeface="Inter"/>
              </a:rPr>
              <a:t>Backend Server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705350"/>
            <a:ext cx="3048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Inter"/>
              </a:rPr>
              <a:t>Python Flask framework.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5800" y="4352925"/>
            <a:ext cx="320040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F172A"/>
                </a:solidFill>
                <a:latin typeface="Inter"/>
              </a:rPr>
              <a:t>Database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2000" y="4705350"/>
            <a:ext cx="3048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Inter"/>
              </a:rPr>
              <a:t>MySQL relational storage.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0C20154-F323-E03C-997E-E87EFF0EFD35}"/>
              </a:ext>
            </a:extLst>
          </p:cNvPr>
          <p:cNvSpPr txBox="1"/>
          <p:nvPr/>
        </p:nvSpPr>
        <p:spPr>
          <a:xfrm>
            <a:off x="5197536" y="723901"/>
            <a:ext cx="1208664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 dirty="0">
                <a:solidFill>
                  <a:srgbClr val="3B82F6"/>
                </a:solidFill>
                <a:latin typeface="Roboto Mono"/>
              </a:rPr>
              <a:t>// </a:t>
            </a:r>
            <a:r>
              <a:rPr lang="en-US" sz="1200" dirty="0">
                <a:solidFill>
                  <a:srgbClr val="3B82F6"/>
                </a:solidFill>
                <a:latin typeface="Roboto Mono"/>
              </a:rPr>
              <a:t>ER DIAGRAM</a:t>
            </a:r>
            <a:endParaRPr sz="1200" b="0" i="0" u="none" dirty="0">
              <a:solidFill>
                <a:srgbClr val="3B82F6"/>
              </a:solidFill>
              <a:latin typeface="Roboto Mono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789A5FE-5092-3279-A18A-DA3A05FE15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996696"/>
            <a:ext cx="10287000" cy="5861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163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295400" y="3033712"/>
            <a:ext cx="3810000" cy="2314575"/>
          </a:xfrm>
          <a:prstGeom prst="roundRect">
            <a:avLst>
              <a:gd name="adj" fmla="val 3292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086600" y="2719387"/>
            <a:ext cx="3810000" cy="2943225"/>
          </a:xfrm>
          <a:prstGeom prst="roundRect">
            <a:avLst>
              <a:gd name="adj" fmla="val 2588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715000" y="4314825"/>
            <a:ext cx="76200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123" y="4256998"/>
            <a:ext cx="134703" cy="134703"/>
          </a:xfrm>
          <a:prstGeom prst="rect">
            <a:avLst/>
          </a:prstGeom>
          <a:noFill/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5925" y="4157662"/>
            <a:ext cx="152400" cy="152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7125" y="3843337"/>
            <a:ext cx="15240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125" y="4786312"/>
            <a:ext cx="190500" cy="152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-381000" y="762000"/>
            <a:ext cx="12954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3B82F6"/>
                </a:solidFill>
                <a:latin typeface="Roboto Mono"/>
              </a:rPr>
              <a:t>// SYSTEM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381000" y="1114425"/>
            <a:ext cx="12954000" cy="561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0F172A"/>
                </a:solidFill>
                <a:latin typeface="Inter"/>
              </a:rPr>
              <a:t>Relational Table Schema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85925" y="3424237"/>
            <a:ext cx="3975496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Equipment 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85925" y="3738562"/>
            <a:ext cx="3786187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PARENT ENTITY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2125" y="4048125"/>
            <a:ext cx="104775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3B82F6"/>
                </a:solidFill>
                <a:latin typeface="Inter"/>
              </a:rPr>
              <a:t>1 : Many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77125" y="3109912"/>
            <a:ext cx="3975496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Borrow_Records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77125" y="3424237"/>
            <a:ext cx="3786187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CHILD ENTITY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85925" y="4129087"/>
            <a:ext cx="3786187" cy="200025"/>
          </a:xfrm>
          <a:prstGeom prst="rect">
            <a:avLst/>
          </a:prstGeom>
          <a:noFill/>
        </p:spPr>
        <p:txBody>
          <a:bodyPr wrap="none" lIns="140970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34155"/>
                </a:solidFill>
                <a:latin typeface="Roboto Mono"/>
              </a:rPr>
              <a:t>item_id (PK)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90725" y="4443412"/>
            <a:ext cx="34813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Roboto Mono"/>
              </a:rPr>
              <a:t>item_name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90725" y="4757737"/>
            <a:ext cx="34813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Roboto Mono"/>
              </a:rPr>
              <a:t>total_stock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77125" y="3814762"/>
            <a:ext cx="3786187" cy="200025"/>
          </a:xfrm>
          <a:prstGeom prst="rect">
            <a:avLst/>
          </a:prstGeom>
          <a:noFill/>
        </p:spPr>
        <p:txBody>
          <a:bodyPr wrap="none" lIns="160020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34155"/>
                </a:solidFill>
                <a:latin typeface="Roboto Mono"/>
              </a:rPr>
              <a:t>record_id (PK)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81925" y="4129087"/>
            <a:ext cx="34813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Roboto Mono"/>
              </a:rPr>
              <a:t>student_name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81925" y="4443412"/>
            <a:ext cx="34813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Roboto Mono"/>
              </a:rPr>
              <a:t>student_prn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77125" y="4757737"/>
            <a:ext cx="3786187" cy="200025"/>
          </a:xfrm>
          <a:prstGeom prst="rect">
            <a:avLst/>
          </a:prstGeom>
          <a:noFill/>
        </p:spPr>
        <p:txBody>
          <a:bodyPr wrap="none" lIns="144780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B82F6"/>
                </a:solidFill>
                <a:latin typeface="Roboto Mono"/>
              </a:rPr>
              <a:t>item_id (FK)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81925" y="5072062"/>
            <a:ext cx="34813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Roboto Mono"/>
              </a:rPr>
              <a:t>borrow_date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52119" y="1727150"/>
            <a:ext cx="6530280" cy="3403699"/>
          </a:xfrm>
          <a:prstGeom prst="roundRect">
            <a:avLst>
              <a:gd name="adj" fmla="val 2238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5067300"/>
            <a:ext cx="152400" cy="152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33119" y="2108150"/>
            <a:ext cx="5863530" cy="26416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678DD"/>
                </a:solidFill>
                <a:latin typeface="Inter"/>
              </a:rPr>
              <a:t>SELECT</a:t>
            </a:r>
            <a:r>
              <a:rPr sz="1350" b="0" i="0" u="none">
                <a:solidFill>
                  <a:srgbClr val="E2E8F0"/>
                </a:solidFill>
                <a:latin typeface="Inter"/>
              </a:rPr>
              <a:t> Borrow_Records.record_id, Borrow_Records.student_prn, Equipment.item_name, Borrow_Records.borrow_date </a:t>
            </a:r>
            <a:r>
              <a:rPr sz="1350" b="0" i="0" u="none">
                <a:solidFill>
                  <a:srgbClr val="C678DD"/>
                </a:solidFill>
                <a:latin typeface="Inter"/>
              </a:rPr>
              <a:t>FROM</a:t>
            </a:r>
            <a:r>
              <a:rPr sz="1350" b="0" i="0" u="none">
                <a:solidFill>
                  <a:srgbClr val="E2E8F0"/>
                </a:solidFill>
                <a:latin typeface="Inter"/>
              </a:rPr>
              <a:t> Borrow_Records </a:t>
            </a:r>
            <a:r>
              <a:rPr sz="1350" b="0" i="0" u="none">
                <a:solidFill>
                  <a:srgbClr val="C678DD"/>
                </a:solidFill>
                <a:latin typeface="Inter"/>
              </a:rPr>
              <a:t>JOIN</a:t>
            </a:r>
            <a:r>
              <a:rPr sz="1350" b="0" i="0" u="none">
                <a:solidFill>
                  <a:srgbClr val="E2E8F0"/>
                </a:solidFill>
                <a:latin typeface="Inter"/>
              </a:rPr>
              <a:t> Equipment </a:t>
            </a:r>
            <a:r>
              <a:rPr sz="1350" b="0" i="0" u="none">
                <a:solidFill>
                  <a:srgbClr val="C678DD"/>
                </a:solidFill>
                <a:latin typeface="Inter"/>
              </a:rPr>
              <a:t>ON</a:t>
            </a:r>
            <a:r>
              <a:rPr sz="1350" b="0" i="0" u="none">
                <a:solidFill>
                  <a:srgbClr val="E2E8F0"/>
                </a:solidFill>
                <a:latin typeface="Inter"/>
              </a:rPr>
              <a:t> Borrow_Records.item_id = Equipment.item_id </a:t>
            </a:r>
            <a:r>
              <a:rPr sz="1350" b="0" i="0" u="none">
                <a:solidFill>
                  <a:srgbClr val="C678DD"/>
                </a:solidFill>
                <a:latin typeface="Inter"/>
              </a:rPr>
              <a:t>ORDER BY</a:t>
            </a:r>
            <a:r>
              <a:rPr sz="1350" b="0" i="0" u="none">
                <a:solidFill>
                  <a:srgbClr val="E2E8F0"/>
                </a:solidFill>
                <a:latin typeface="Inter"/>
              </a:rPr>
              <a:t> Borrow_Records.borrow_date </a:t>
            </a:r>
            <a:r>
              <a:rPr sz="1350" b="0" i="0" u="none">
                <a:solidFill>
                  <a:srgbClr val="C678DD"/>
                </a:solidFill>
                <a:latin typeface="Inter"/>
              </a:rPr>
              <a:t>DESC</a:t>
            </a:r>
            <a:r>
              <a:rPr sz="1350" b="0" i="0" u="none">
                <a:solidFill>
                  <a:srgbClr val="E2E8F0"/>
                </a:solidFill>
                <a:latin typeface="Inter"/>
              </a:rPr>
              <a:t>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619250"/>
            <a:ext cx="479114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B82F6"/>
                </a:solidFill>
                <a:latin typeface="Roboto Mono"/>
              </a:rPr>
              <a:t>//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971675"/>
            <a:ext cx="4124578" cy="1685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Inter"/>
              </a:rPr>
              <a:t>Admin Dashboard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886200"/>
            <a:ext cx="3928169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Inter"/>
              </a:rPr>
              <a:t>A relational SQL JOIN links the student log to the specific hardware inventory name.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5048250"/>
            <a:ext cx="4524449" cy="1905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10B981"/>
                </a:solidFill>
                <a:latin typeface="Inter"/>
              </a:rPr>
              <a:t>Prevents data redundancy.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33119" y="3169235"/>
            <a:ext cx="5844480" cy="26226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sz="1350" b="0" i="0" u="none" dirty="0">
                <a:solidFill>
                  <a:srgbClr val="C678DD"/>
                </a:solidFill>
                <a:latin typeface="Roboto Mono"/>
              </a:rPr>
              <a:t>SELECT</a:t>
            </a:r>
            <a:r>
              <a:rPr sz="1350" b="0" i="0" u="none" dirty="0">
                <a:solidFill>
                  <a:srgbClr val="E2E8F0"/>
                </a:solidFill>
                <a:latin typeface="Roboto Mono"/>
              </a:rPr>
              <a:t> </a:t>
            </a:r>
            <a:r>
              <a:rPr sz="1350" b="0" i="0" u="none" dirty="0" err="1">
                <a:solidFill>
                  <a:srgbClr val="E2E8F0"/>
                </a:solidFill>
                <a:latin typeface="Roboto Mono"/>
              </a:rPr>
              <a:t>Borrow_Records.record_id</a:t>
            </a:r>
            <a:r>
              <a:rPr sz="1350" b="0" i="0" u="none" dirty="0">
                <a:solidFill>
                  <a:srgbClr val="E2E8F0"/>
                </a:solidFill>
                <a:latin typeface="Roboto Mono"/>
              </a:rPr>
              <a:t>, </a:t>
            </a:r>
            <a:r>
              <a:rPr sz="1350" b="0" i="0" u="none" dirty="0" err="1">
                <a:solidFill>
                  <a:srgbClr val="E2E8F0"/>
                </a:solidFill>
                <a:latin typeface="Roboto Mono"/>
              </a:rPr>
              <a:t>Borrow_Records.student_prn</a:t>
            </a:r>
            <a:r>
              <a:rPr sz="1350" b="0" i="0" u="none" dirty="0">
                <a:solidFill>
                  <a:srgbClr val="E2E8F0"/>
                </a:solidFill>
                <a:latin typeface="Roboto Mono"/>
              </a:rPr>
              <a:t>, </a:t>
            </a:r>
            <a:r>
              <a:rPr sz="1350" b="0" i="0" u="none" dirty="0" err="1">
                <a:solidFill>
                  <a:srgbClr val="E2E8F0"/>
                </a:solidFill>
                <a:latin typeface="Roboto Mono"/>
              </a:rPr>
              <a:t>Equipment.item_name</a:t>
            </a:r>
            <a:r>
              <a:rPr sz="1350" b="0" i="0" u="none" dirty="0">
                <a:solidFill>
                  <a:srgbClr val="E2E8F0"/>
                </a:solidFill>
                <a:latin typeface="Roboto Mono"/>
              </a:rPr>
              <a:t>, </a:t>
            </a:r>
            <a:r>
              <a:rPr sz="1350" b="0" i="0" u="none" dirty="0" err="1">
                <a:solidFill>
                  <a:srgbClr val="E2E8F0"/>
                </a:solidFill>
                <a:latin typeface="Roboto Mono"/>
              </a:rPr>
              <a:t>Borrow_Records.borrow_date</a:t>
            </a:r>
            <a:r>
              <a:rPr sz="1350" b="0" i="0" u="none" dirty="0">
                <a:solidFill>
                  <a:srgbClr val="E2E8F0"/>
                </a:solidFill>
                <a:latin typeface="Roboto Mono"/>
              </a:rPr>
              <a:t> </a:t>
            </a:r>
            <a:r>
              <a:rPr sz="1350" b="0" i="0" u="none" dirty="0">
                <a:solidFill>
                  <a:srgbClr val="C678DD"/>
                </a:solidFill>
                <a:latin typeface="Roboto Mono"/>
              </a:rPr>
              <a:t>FROM</a:t>
            </a:r>
            <a:r>
              <a:rPr sz="1350" b="0" i="0" u="none" dirty="0">
                <a:solidFill>
                  <a:srgbClr val="E2E8F0"/>
                </a:solidFill>
                <a:latin typeface="Roboto Mono"/>
              </a:rPr>
              <a:t> </a:t>
            </a:r>
            <a:r>
              <a:rPr sz="1350" b="0" i="0" u="none" dirty="0" err="1">
                <a:solidFill>
                  <a:srgbClr val="E2E8F0"/>
                </a:solidFill>
                <a:latin typeface="Roboto Mono"/>
              </a:rPr>
              <a:t>Borrow_Records</a:t>
            </a:r>
            <a:r>
              <a:rPr sz="1350" b="0" i="0" u="none" dirty="0">
                <a:solidFill>
                  <a:srgbClr val="E2E8F0"/>
                </a:solidFill>
                <a:latin typeface="Roboto Mono"/>
              </a:rPr>
              <a:t> </a:t>
            </a:r>
            <a:r>
              <a:rPr sz="1350" b="0" i="0" u="none" dirty="0">
                <a:solidFill>
                  <a:srgbClr val="C678DD"/>
                </a:solidFill>
                <a:latin typeface="Roboto Mono"/>
              </a:rPr>
              <a:t>JOIN</a:t>
            </a:r>
            <a:r>
              <a:rPr sz="1350" b="0" i="0" u="none" dirty="0">
                <a:solidFill>
                  <a:srgbClr val="E2E8F0"/>
                </a:solidFill>
                <a:latin typeface="Roboto Mono"/>
              </a:rPr>
              <a:t> Equipment </a:t>
            </a:r>
            <a:r>
              <a:rPr sz="1350" b="0" i="0" u="none" dirty="0">
                <a:solidFill>
                  <a:srgbClr val="C678DD"/>
                </a:solidFill>
                <a:latin typeface="Roboto Mono"/>
              </a:rPr>
              <a:t>ON</a:t>
            </a:r>
            <a:r>
              <a:rPr sz="1350" b="0" i="0" u="none" dirty="0">
                <a:solidFill>
                  <a:srgbClr val="E2E8F0"/>
                </a:solidFill>
                <a:latin typeface="Roboto Mono"/>
              </a:rPr>
              <a:t> </a:t>
            </a:r>
            <a:r>
              <a:rPr sz="1350" b="0" i="0" u="none" dirty="0" err="1">
                <a:solidFill>
                  <a:srgbClr val="E2E8F0"/>
                </a:solidFill>
                <a:latin typeface="Roboto Mono"/>
              </a:rPr>
              <a:t>Borrow_Records.item_id</a:t>
            </a:r>
            <a:r>
              <a:rPr sz="1350" b="0" i="0" u="none" dirty="0">
                <a:solidFill>
                  <a:srgbClr val="E2E8F0"/>
                </a:solidFill>
                <a:latin typeface="Roboto Mono"/>
              </a:rPr>
              <a:t> = </a:t>
            </a:r>
            <a:r>
              <a:rPr sz="1350" b="0" i="0" u="none" dirty="0" err="1">
                <a:solidFill>
                  <a:srgbClr val="E2E8F0"/>
                </a:solidFill>
                <a:latin typeface="Roboto Mono"/>
              </a:rPr>
              <a:t>Equipment.item_id</a:t>
            </a:r>
            <a:r>
              <a:rPr sz="1350" b="0" i="0" u="none" dirty="0">
                <a:solidFill>
                  <a:srgbClr val="E2E8F0"/>
                </a:solidFill>
                <a:latin typeface="Roboto Mono"/>
              </a:rPr>
              <a:t> </a:t>
            </a:r>
            <a:r>
              <a:rPr sz="1350" b="0" i="0" u="none" dirty="0">
                <a:solidFill>
                  <a:srgbClr val="C678DD"/>
                </a:solidFill>
                <a:latin typeface="Roboto Mono"/>
              </a:rPr>
              <a:t>ORDER BY</a:t>
            </a:r>
            <a:r>
              <a:rPr sz="1350" b="0" i="0" u="none" dirty="0">
                <a:solidFill>
                  <a:srgbClr val="E2E8F0"/>
                </a:solidFill>
                <a:latin typeface="Roboto Mono"/>
              </a:rPr>
              <a:t> </a:t>
            </a:r>
            <a:r>
              <a:rPr sz="1350" b="0" i="0" u="none" dirty="0" err="1">
                <a:solidFill>
                  <a:srgbClr val="E2E8F0"/>
                </a:solidFill>
                <a:latin typeface="Roboto Mono"/>
              </a:rPr>
              <a:t>Borrow_Records.borrow_date</a:t>
            </a:r>
            <a:r>
              <a:rPr sz="1350" b="0" i="0" u="none" dirty="0">
                <a:solidFill>
                  <a:srgbClr val="E2E8F0"/>
                </a:solidFill>
                <a:latin typeface="Roboto Mono"/>
              </a:rPr>
              <a:t> </a:t>
            </a:r>
            <a:r>
              <a:rPr sz="1350" b="0" i="0" u="none" dirty="0">
                <a:solidFill>
                  <a:srgbClr val="C678DD"/>
                </a:solidFill>
                <a:latin typeface="Roboto Mono"/>
              </a:rPr>
              <a:t>DESC</a:t>
            </a:r>
            <a:r>
              <a:rPr sz="1350" b="0" i="0" u="none" dirty="0">
                <a:solidFill>
                  <a:srgbClr val="E2E8F0"/>
                </a:solidFill>
                <a:latin typeface="Roboto Mono"/>
              </a:rPr>
              <a:t>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52762"/>
            <a:ext cx="3454449" cy="2276475"/>
          </a:xfrm>
          <a:prstGeom prst="roundRect">
            <a:avLst>
              <a:gd name="adj" fmla="val 334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68849" y="3148012"/>
            <a:ext cx="3454449" cy="2085975"/>
          </a:xfrm>
          <a:prstGeom prst="roundRect">
            <a:avLst>
              <a:gd name="adj" fmla="val 365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128099" y="3148012"/>
            <a:ext cx="3454449" cy="2085975"/>
          </a:xfrm>
          <a:prstGeom prst="roundRect">
            <a:avLst>
              <a:gd name="adj" fmla="val 365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3443287"/>
            <a:ext cx="2286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9374" y="3538537"/>
            <a:ext cx="3048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8624" y="3538537"/>
            <a:ext cx="2667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-381000" y="762000"/>
            <a:ext cx="12954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3B82F6"/>
                </a:solidFill>
                <a:latin typeface="Roboto Mono"/>
              </a:rPr>
              <a:t>// 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381000" y="1114425"/>
            <a:ext cx="12954000" cy="561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0F172A"/>
                </a:solidFill>
                <a:latin typeface="Inter"/>
              </a:rPr>
              <a:t>Future Scope &amp; Extensions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125" y="3976687"/>
            <a:ext cx="3508836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Live Stock Deduction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125" y="4367212"/>
            <a:ext cx="2768649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Implement SQL triggers to reduce stock count automatically upon issue.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9374" y="4071937"/>
            <a:ext cx="3508836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Return 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9374" y="4462462"/>
            <a:ext cx="2768649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Update statements to log component returns and replenish inventory.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18624" y="4071937"/>
            <a:ext cx="3508836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Authentication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18624" y="4462462"/>
            <a:ext cx="2768649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Secure the admin dashboard using Werkzeug password hashing.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776844"/>
            <a:ext cx="6490559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3748"/>
                </a:solidFill>
                <a:latin typeface="Aptos Display"/>
              </a:defRPr>
            </a:pPr>
            <a:r>
              <a:rPr dirty="0"/>
              <a:t>SUSTAINABLE DEVELOPMENT GOALS (SDG</a:t>
            </a:r>
            <a:r>
              <a:rPr lang="en-US" dirty="0"/>
              <a:t>s</a:t>
            </a:r>
            <a:r>
              <a:rPr dirty="0"/>
              <a:t>)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675" y="1376559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2616E"/>
                </a:solidFill>
                <a:latin typeface="Aptos"/>
              </a:defRPr>
            </a:pPr>
            <a:r>
              <a:t>How the ECE Lab Equipment Inventory Tracker can contribute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0675" y="2048256"/>
            <a:ext cx="3337560" cy="4160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920240"/>
            <a:ext cx="3337560" cy="13716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50562" y="2121408"/>
            <a:ext cx="787395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BF2330"/>
                </a:solidFill>
                <a:latin typeface="Aptos"/>
              </a:defRPr>
            </a:pPr>
            <a:r>
              <a:rPr dirty="0">
                <a:solidFill>
                  <a:schemeClr val="tx2"/>
                </a:solidFill>
              </a:rPr>
              <a:t>SDG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119" y="2779776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F3748"/>
                </a:solidFill>
                <a:latin typeface="Aptos"/>
              </a:defRPr>
            </a:pPr>
            <a:r>
              <a:t>QUALITY EDUCATION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0407" y="3712464"/>
            <a:ext cx="290779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7414B"/>
                </a:solidFill>
                <a:latin typeface="Aptos"/>
              </a:defRPr>
            </a:pPr>
            <a:r>
              <a:t>Organized borrowing records can support administration of equipment used in practical laboratory sessions.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0407" y="5143500"/>
            <a:ext cx="29077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52616E"/>
                </a:solidFill>
                <a:latin typeface="Aptos"/>
              </a:defRPr>
            </a:pPr>
            <a:r>
              <a:t>Project link: better visibility of issue records for educational lab equipment.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03975" y="2048256"/>
            <a:ext cx="3337560" cy="4160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61730" y="1920240"/>
            <a:ext cx="3337560" cy="13716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16133" y="2137797"/>
            <a:ext cx="904415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BF8B1F"/>
                </a:solidFill>
                <a:latin typeface="Aptos"/>
              </a:defRPr>
            </a:pPr>
            <a:r>
              <a:rPr dirty="0">
                <a:solidFill>
                  <a:schemeClr val="tx2"/>
                </a:solidFill>
              </a:rPr>
              <a:t>SDG 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9715" y="2775204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F3748"/>
                </a:solidFill>
                <a:latin typeface="Aptos"/>
              </a:defRPr>
            </a:pPr>
            <a:r>
              <a:t>RESPONSIBLE CONSUMPTION</a:t>
            </a:r>
            <a:br/>
            <a:r>
              <a:t>AND PRODUCTION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8003" y="3712464"/>
            <a:ext cx="290779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7414B"/>
                </a:solidFill>
                <a:latin typeface="Aptos"/>
              </a:defRPr>
            </a:pPr>
            <a:r>
              <a:rPr dirty="0"/>
              <a:t>Centralized equipment and borrowing records can improve traceability and encourage responsible use of shared resources.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5134356"/>
            <a:ext cx="29077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52616E"/>
                </a:solidFill>
                <a:latin typeface="Aptos"/>
              </a:defRPr>
            </a:pPr>
            <a:r>
              <a:t>Project link: searchable borrowing history; stock deduction and returns are future work.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05030" y="2048256"/>
            <a:ext cx="3337560" cy="4160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06240" y="1911096"/>
            <a:ext cx="3337560" cy="13716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5879" y="2137797"/>
            <a:ext cx="787395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24119"/>
                </a:solidFill>
                <a:latin typeface="Aptos"/>
              </a:defRPr>
            </a:pPr>
            <a:r>
              <a:rPr>
                <a:solidFill>
                  <a:schemeClr val="tx2"/>
                </a:solidFill>
              </a:rPr>
              <a:t>SDG 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91272" y="2779776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F3748"/>
                </a:solidFill>
                <a:latin typeface="Aptos"/>
              </a:defRPr>
            </a:pPr>
            <a:r>
              <a:t>INDUSTRY, INNOVATION</a:t>
            </a:r>
            <a:br/>
            <a:r>
              <a:t>AND INFRASTRUCTURE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0416" y="3712464"/>
            <a:ext cx="290779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7414B"/>
                </a:solidFill>
                <a:latin typeface="Aptos"/>
              </a:defRPr>
            </a:pPr>
            <a:r>
              <a:rPr dirty="0"/>
              <a:t>The project demonstrates a small-scale digital workflow for institutional inventory management.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5143500"/>
            <a:ext cx="29077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52616E"/>
                </a:solidFill>
                <a:latin typeface="Aptos"/>
              </a:defRPr>
            </a:pPr>
            <a:r>
              <a:t>Project link: Flask + MySQL replace part of a paper-based process.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025CF75-E316-50CE-0B2A-6B1B254B8854}"/>
              </a:ext>
            </a:extLst>
          </p:cNvPr>
          <p:cNvSpPr txBox="1"/>
          <p:nvPr/>
        </p:nvSpPr>
        <p:spPr>
          <a:xfrm>
            <a:off x="5056632" y="23774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76AF461-18C1-FEF1-A331-8EB8AC5DCEDF}"/>
              </a:ext>
            </a:extLst>
          </p:cNvPr>
          <p:cNvSpPr txBox="1"/>
          <p:nvPr/>
        </p:nvSpPr>
        <p:spPr>
          <a:xfrm>
            <a:off x="4776493" y="343661"/>
            <a:ext cx="929742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 dirty="0">
                <a:solidFill>
                  <a:srgbClr val="3B82F6"/>
                </a:solidFill>
                <a:latin typeface="Roboto Mono"/>
              </a:rPr>
              <a:t>// </a:t>
            </a:r>
            <a:r>
              <a:rPr lang="en-US" sz="1200" dirty="0">
                <a:solidFill>
                  <a:srgbClr val="3B82F6"/>
                </a:solidFill>
                <a:latin typeface="Roboto Mono"/>
              </a:rPr>
              <a:t>MAPPING</a:t>
            </a:r>
            <a:endParaRPr sz="1200" b="0" i="0" u="none" dirty="0">
              <a:solidFill>
                <a:srgbClr val="3B82F6"/>
              </a:solidFill>
              <a:latin typeface="Roboto Mon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91200" y="4076700"/>
            <a:ext cx="609600" cy="190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89474" y="1743075"/>
            <a:ext cx="4413051" cy="7334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F8FAFC"/>
                </a:solidFill>
                <a:latin typeface="Inter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33500" y="2781300"/>
            <a:ext cx="9525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0" i="0" u="none">
                <a:solidFill>
                  <a:srgbClr val="94A3B8"/>
                </a:solidFill>
                <a:latin typeface="Inter"/>
              </a:rPr>
              <a:t>A successful implementation of DBMS principles resolving physical inventory management in university laboratories.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44703" y="4400550"/>
            <a:ext cx="170259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4748B"/>
                </a:solidFill>
                <a:latin typeface="Roboto Mono"/>
              </a:rPr>
              <a:t>// 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49328" y="4714875"/>
            <a:ext cx="3893343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F8FAFC"/>
                </a:solidFill>
                <a:latin typeface="Inter"/>
              </a:rPr>
              <a:t>[1] R. Elmasri, Fundamentals of Database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80359" y="4953000"/>
            <a:ext cx="263128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F8FAFC"/>
                </a:solidFill>
                <a:latin typeface="Inter"/>
              </a:rPr>
              <a:t>[2] MySQL 8.0 Reference Manual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990600"/>
            <a:ext cx="857250" cy="47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2175271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Inter"/>
              </a:rPr>
              <a:t>Image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6875" y="1033462"/>
            <a:ext cx="2655093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F8FAFC"/>
                </a:solidFill>
                <a:latin typeface="Inter"/>
              </a:rPr>
              <a:t>https://i.redd.it/k2kz6okpz4gh1.jpeg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6875" y="1233487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8FAFC"/>
                </a:solidFill>
                <a:latin typeface="Inter"/>
              </a:rPr>
              <a:t>Source: www.reddit.com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65DC6A-435D-5B0A-2B54-8CF2C622F866}"/>
              </a:ext>
            </a:extLst>
          </p:cNvPr>
          <p:cNvSpPr txBox="1"/>
          <p:nvPr/>
        </p:nvSpPr>
        <p:spPr>
          <a:xfrm>
            <a:off x="571500" y="2472452"/>
            <a:ext cx="12221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Thank You!</a:t>
            </a:r>
            <a:endParaRPr lang="en-IN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575</Words>
  <Application>Microsoft Office PowerPoint</Application>
  <PresentationFormat>Widescreen</PresentationFormat>
  <Paragraphs>101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Calibri</vt:lpstr>
      <vt:lpstr>Roboto Mono</vt:lpstr>
      <vt:lpstr>Inter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liya gautam</cp:lastModifiedBy>
  <cp:revision>4</cp:revision>
  <dcterms:created xsi:type="dcterms:W3CDTF">2013-01-27T09:14:16Z</dcterms:created>
  <dcterms:modified xsi:type="dcterms:W3CDTF">2026-10-14T07:43:49Z</dcterms:modified>
  <cp:category/>
</cp:coreProperties>
</file>